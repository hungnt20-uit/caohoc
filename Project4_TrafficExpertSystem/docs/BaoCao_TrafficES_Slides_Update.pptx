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0">
                <a:solidFill>
                  <a:srgbClr val="A8C5D4"/>
                </a:solidFill>
                <a:latin typeface="Calibri"/>
                <a:ea typeface="Arial"/>
              </a:rPr>
              <a:t>ĐẠI HỌC QUỐC GIA TP. HỒ CHÍ MINH · TRƯỜNG ĐẠI HỌC CÔNG NGHỆ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BÁO CÁO CUỐI KỲ — CẬP NHẬT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800" b="1">
                <a:solidFill>
                  <a:srgbClr val="FFFFFF"/>
                </a:solidFill>
                <a:latin typeface="Calibri"/>
                <a:ea typeface="Arial"/>
              </a:rPr>
              <a:t>HỆ THỐNG CHUYÊN GIA TƯ VẤN HÀNH VI
VI PHẠM LUẬT GIAO THÔNG
DỰA TRÊN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0">
                <a:solidFill>
                  <a:srgbClr val="C8D8E0"/>
                </a:solidFill>
                <a:latin typeface="Calibri"/>
                <a:ea typeface="Arial"/>
              </a:rPr>
              <a:t>Chuyên đề: Nghiên cứu và Ứng dụng về Công nghệ Tri thức</a:t>
            </a:r>
          </a:p>
          <a:p>
            <a:pPr algn="ctr">
              <a:spcAft>
                <a:spcPts val="420"/>
              </a:spcAft>
            </a:pPr>
            <a:r>
              <a:rPr sz="1400" b="0">
                <a:solidFill>
                  <a:srgbClr val="C8D8E0"/>
                </a:solidFill>
                <a:latin typeface="Calibri"/>
                <a:ea typeface="Arial"/>
              </a:rPr>
              <a:t>GVHD: TS. Nguyễn Đình Hiển  ·  Lớp: CS2307.CH201  ·  Nhóm: 4</a:t>
            </a:r>
          </a:p>
          <a:p>
            <a:pPr algn="ctr">
              <a:spcAft>
                <a:spcPts val="420"/>
              </a:spcAft>
            </a:pPr>
            <a:r>
              <a:rPr sz="1400" b="0">
                <a:solidFill>
                  <a:srgbClr val="C8D8E0"/>
                </a:solidFill>
                <a:latin typeface="Calibri"/>
                <a:ea typeface="Arial"/>
              </a:rPr>
              <a:t>KB: Nghị định 168/2024/NĐ-CP  ·  Kiến trúc: Neuro-Symbolic (LLM + Engine ký hiệu)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TP. Hồ Chí Minh, Tháng 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THÀNH VIÊN NHÓM 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1097280" cy="502920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STT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280160"/>
            <a:ext cx="3200400" cy="502920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Mã học viên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80160"/>
            <a:ext cx="5029200" cy="502920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Họ và tên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783080"/>
            <a:ext cx="109728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783080"/>
            <a:ext cx="320040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250101025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783080"/>
            <a:ext cx="502920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874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Nguyễn Thanh Hùng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2860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28600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250101065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28600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Bùi Phạm Minh Thi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788920"/>
            <a:ext cx="109728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788920"/>
            <a:ext cx="320040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6888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250101055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788920"/>
            <a:ext cx="502920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Võ Anh Quân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29184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329184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688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250101039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29184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Trần Hoàng Minh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3794760"/>
            <a:ext cx="109728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" y="3886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3794760"/>
            <a:ext cx="320040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6888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250101049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794760"/>
            <a:ext cx="5029200" cy="502920"/>
          </a:xfrm>
          <a:prstGeom prst="rect">
            <a:avLst/>
          </a:prstGeom>
          <a:solidFill>
            <a:srgbClr val="F4F7F8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Trần Thảo Nguyên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TỔNG QUAN DỰ 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94960" cy="2286000"/>
          </a:xfrm>
          <a:prstGeom prst="roundRect">
            <a:avLst/>
          </a:prstGeom>
          <a:solidFill>
            <a:srgbClr val="F4F7F8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Xử lý tự động mô tả vi phạm giao thông tiếng Việt phức tạp — cần suy luận ngữ nghĩa, minh bạch pháp lý và chính xác cao.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94960" cy="2286000"/>
          </a:xfrm>
          <a:prstGeom prst="roundRect">
            <a:avLst/>
          </a:prstGeom>
          <a:solidFill>
            <a:srgbClr val="F4F7F8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THÁCH THỨC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Luật nhiều tầng (NĐ 168/2024), ngôn ngữ khẩu ngữ đa dạng, không được ảo giác căn cứ / mức phạt.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94960" cy="2286000"/>
          </a:xfrm>
          <a:prstGeom prst="roundRect">
            <a:avLst/>
          </a:prstGeom>
          <a:solidFill>
            <a:srgbClr val="F4F7F8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MỤC ĐÍCH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Hệ chuyên gia hybrid: LLM/NLU trích facts + engine ký hiệu suy diễn mức phạt, căn cứ và chuỗi giải thích.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57600"/>
            <a:ext cx="5394960" cy="2286000"/>
          </a:xfrm>
          <a:prstGeom prst="roundRect">
            <a:avLst/>
          </a:prstGeom>
          <a:solidFill>
            <a:srgbClr val="F4F7F8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CẬP NHẬT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KB chuyển sang NĐ 168/2024; UI Streamlit + Nodes graph Legal-Onto; hỗ trợ OpenAI / Claude / Local LLM.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MỤC TIÊU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1640" y="1737360"/>
            <a:ext cx="1097280" cy="1097280"/>
          </a:xfrm>
          <a:prstGeom prst="ellipse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20116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0B2540"/>
                </a:solidFill>
                <a:latin typeface="Calibri"/>
                <a:ea typeface="Arial"/>
              </a:rPr>
              <a:t>Nhận diện tình huống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1A1A2E"/>
                </a:solidFill>
                <a:latin typeface="Calibri"/>
                <a:ea typeface="Arial"/>
              </a:rPr>
              <a:t>Nhận mô tả NL tiếng Việt → trích facts, suy tình tiết tăng/giảm nặng (heuristic hoặc LLM).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32120" y="1737360"/>
            <a:ext cx="1097280" cy="1097280"/>
          </a:xfrm>
          <a:prstGeom prst="ellipse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20116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0B2540"/>
                </a:solidFill>
                <a:latin typeface="Calibri"/>
                <a:ea typeface="Arial"/>
              </a:rPr>
              <a:t>Quyết định xử phạt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1A1A2E"/>
                </a:solidFill>
                <a:latin typeface="Calibri"/>
                <a:ea typeface="Arial"/>
              </a:rPr>
              <a:t>Engine ký hiệu áp rules YAML (NĐ 168) → tiền phạt, tước GPLX, căn cứ Điều/Khoản/điểm.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72600" y="1737360"/>
            <a:ext cx="1097280" cy="1097280"/>
          </a:xfrm>
          <a:prstGeom prst="ellipse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20116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0B2540"/>
                </a:solidFill>
                <a:latin typeface="Calibri"/>
                <a:ea typeface="Arial"/>
              </a:rPr>
              <a:t>Giải thích minh bạch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490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1A1A2E"/>
                </a:solidFill>
                <a:latin typeface="Calibri"/>
                <a:ea typeface="Arial"/>
              </a:rPr>
              <a:t>Trace đầy đủ + Legal-Onto validator: LLM không được sinh số liệu / căn cứ pháp lý.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NGUYÊN TẮC KIẾN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201168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C45C26"/>
                </a:solidFill>
                <a:latin typeface="Calibri"/>
                <a:ea typeface="Arial"/>
              </a:rPr>
              <a:t>Chống ảo giác pháp lý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Validator / grounding + engine ký hiệu phê duyệt mọi kết luận. LLM không sinh tiền phạt hay Điều luật.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5394960" cy="201168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C45C26"/>
                </a:solidFill>
                <a:latin typeface="Calibri"/>
                <a:ea typeface="Arial"/>
              </a:rPr>
              <a:t>Ánh xạ thuật ngữ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Keyphrases đời thường → concept Legal-Onto → fact trong Working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94960" cy="201168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Quyết định thuộc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Forward chaining + A* + meta-rule. Symbolic Engine đưa ra mọi quyết định xử phạt.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474720"/>
            <a:ext cx="5394960" cy="201168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Truy xuất 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519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Mỗi kết luận gắn can_cu (NĐ, Điều, Khoản, điểm) và TraceStep (RULE / META / KL).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ea typeface="Arial"/>
              </a:rPr>
              <a:t>KIẾN TRÚC NEURO-SYMBOLIC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148840" cy="219456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Streamlit
+ Nodes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000" b="1">
                <a:solidFill>
                  <a:srgbClr val="0B2540"/>
                </a:solidFill>
                <a:latin typeface="Calibri"/>
                <a:ea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280160"/>
            <a:ext cx="2148840" cy="219456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2103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TrafficESService
answer / continue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000" b="1">
                <a:solidFill>
                  <a:srgbClr val="0B2540"/>
                </a:solidFill>
                <a:latin typeface="Calibri"/>
                <a:ea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280160"/>
            <a:ext cx="2148840" cy="219456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NLU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03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Extract · Infer
KG · Ground · Clarify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000" b="1">
                <a:solidFill>
                  <a:srgbClr val="0B2540"/>
                </a:solidFill>
                <a:latin typeface="Calibri"/>
                <a:ea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280160"/>
            <a:ext cx="2148840" cy="2194560"/>
          </a:xfrm>
          <a:prstGeom prst="round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19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103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A* · FC Rules
Meta · Aggregate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79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000" b="1">
                <a:solidFill>
                  <a:srgbClr val="0B2540"/>
                </a:solidFill>
                <a:latin typeface="Calibri"/>
                <a:ea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280160"/>
            <a:ext cx="2148840" cy="2194560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103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concepts.yaml
rules/*.yaml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Luồng dữ liệu: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NL Input → Normalize → Extractor (Heuristic | LLM) → Circumstance Inferrer → Legal-Onto subgraph match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→ Grounding → (Clarify nếu thiếu slot) → Working Memory → A* → Forward chaining → Meta → Kết luận + Trace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Nguyên tắc hybrid: LLM chỉ sinh facts/tình tiết; Engine ký hiệu sinh mức phạt &amp; căn cứ (chống legal hallucination).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MÔ HÌNH LEGAL-ONTO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1B6B7A"/>
                </a:solidFill>
                <a:latin typeface="Calibri"/>
                <a:ea typeface="Arial"/>
              </a:rPr>
              <a:t>𝒦 = (Conc, Rel, Rules) ⊕ (Keyphrases, Rela)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011680" cy="68580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762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Conc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762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Khái niệm pháp lý: phương tiện, hành vi, chỉ số, tình tiết… (concepts.yaml)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011680" cy="68580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Rel / Rela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906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Trong triển khai: HAS_KEYPHRASE, MAPS_TO fact, HAS_GROUP — star graph theo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2011680" cy="68580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005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050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Luật điều kiện–kết luận YAML → mức xử phạt + can_cu NĐ 168/2024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2011680" cy="68580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Keyphrases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194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Cụm từ đời thường khớp TF-IDF phrase-anchored → concept → fact WM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CONCEPT — 5 THÀNH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Định nghĩa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Name — tên định danh khái niệm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Content — mô tả nội hàm pháp lý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InnerRul — căn cứ / điều kiện nội tại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Attrs — nhom, fact, value → WM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Keyphrases — cụm nhận diện trong NL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475488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754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500" b="1" dirty="0" err="1">
                <a:solidFill>
                  <a:srgbClr val="0B2540"/>
                </a:solidFill>
                <a:latin typeface="Calibri"/>
                <a:ea typeface="Arial"/>
              </a:rPr>
              <a:t>Ví</a:t>
            </a:r>
            <a:r>
              <a:rPr sz="1500" b="1" dirty="0">
                <a:solidFill>
                  <a:srgbClr val="0B2540"/>
                </a:solidFill>
                <a:latin typeface="Calibri"/>
                <a:ea typeface="Arial"/>
              </a:rPr>
              <a:t> </a:t>
            </a:r>
            <a:r>
              <a:rPr sz="1500" b="1" dirty="0" err="1">
                <a:solidFill>
                  <a:srgbClr val="0B2540"/>
                </a:solidFill>
                <a:latin typeface="Calibri"/>
                <a:ea typeface="Arial"/>
              </a:rPr>
              <a:t>dụ</a:t>
            </a:r>
            <a:r>
              <a:rPr sz="1500" b="1" dirty="0">
                <a:solidFill>
                  <a:srgbClr val="0B2540"/>
                </a:solidFill>
                <a:latin typeface="Calibri"/>
                <a:ea typeface="Arial"/>
              </a:rPr>
              <a:t>: </a:t>
            </a:r>
            <a:r>
              <a:rPr sz="1500" b="1" dirty="0" err="1">
                <a:solidFill>
                  <a:srgbClr val="0B2540"/>
                </a:solidFill>
                <a:latin typeface="Calibri"/>
                <a:ea typeface="Arial"/>
              </a:rPr>
              <a:t>xe</a:t>
            </a:r>
            <a:r>
              <a:rPr sz="1500" b="1" dirty="0">
                <a:solidFill>
                  <a:srgbClr val="0B2540"/>
                </a:solidFill>
                <a:latin typeface="Calibri"/>
                <a:ea typeface="Arial"/>
              </a:rPr>
              <a:t> </a:t>
            </a:r>
            <a:r>
              <a:rPr sz="1500" b="1" dirty="0" err="1">
                <a:solidFill>
                  <a:srgbClr val="0B2540"/>
                </a:solidFill>
                <a:latin typeface="Calibri"/>
                <a:ea typeface="Arial"/>
              </a:rPr>
              <a:t>mô</a:t>
            </a:r>
            <a:r>
              <a:rPr sz="1500" b="1" dirty="0">
                <a:solidFill>
                  <a:srgbClr val="0B2540"/>
                </a:solidFill>
                <a:latin typeface="Calibri"/>
                <a:ea typeface="Arial"/>
              </a:rPr>
              <a:t> </a:t>
            </a:r>
            <a:r>
              <a:rPr sz="1500" b="1" dirty="0" err="1">
                <a:solidFill>
                  <a:srgbClr val="0B2540"/>
                </a:solidFill>
                <a:latin typeface="Calibri"/>
                <a:ea typeface="Arial"/>
              </a:rPr>
              <a:t>tô</a:t>
            </a:r>
            <a:endParaRPr sz="1500" b="1" dirty="0">
              <a:solidFill>
                <a:srgbClr val="0B2540"/>
              </a:solidFill>
              <a:latin typeface="Calibri"/>
              <a:ea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name: "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xe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mô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tô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"</a:t>
            </a:r>
          </a:p>
          <a:p>
            <a:pPr algn="l">
              <a:spcAft>
                <a:spcPts val="420"/>
              </a:spcAft>
            </a:pP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content: Phương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tiện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2–3 bánh…</a:t>
            </a:r>
          </a:p>
          <a:p>
            <a:pPr algn="l">
              <a:spcAft>
                <a:spcPts val="420"/>
              </a:spcAft>
            </a:pP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inner_rul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: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Điều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3.39 QCVN…</a:t>
            </a:r>
          </a:p>
          <a:p>
            <a:pPr algn="l">
              <a:spcAft>
                <a:spcPts val="420"/>
              </a:spcAft>
            </a:pP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attrs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: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nhom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=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phuong_tien</a:t>
            </a:r>
            <a:endParaRPr sz="1300" b="0" dirty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       fact=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phuongtien.loai</a:t>
            </a:r>
            <a:endParaRPr sz="1300" b="0" dirty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       value=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xe_may</a:t>
            </a:r>
            <a:endParaRPr sz="1300" b="0" dirty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keyphrases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: ["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xe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máy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", "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mô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tô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",</a:t>
            </a:r>
          </a:p>
          <a:p>
            <a:pPr algn="l">
              <a:spcAft>
                <a:spcPts val="420"/>
              </a:spcAft>
            </a:pP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            "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xe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gắn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  <a:ea typeface="Arial"/>
              </a:rPr>
              <a:t>máy</a:t>
            </a:r>
            <a:r>
              <a:rPr sz="1300" b="0" dirty="0">
                <a:solidFill>
                  <a:srgbClr val="1A1A2E"/>
                </a:solidFill>
                <a:latin typeface="Calibri"/>
                <a:ea typeface="Arial"/>
              </a:rPr>
              <a:t>", …]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DANH MỤC CONCEPT TRONG KB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743200" cy="73152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Phương tiện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43000"/>
            <a:ext cx="8229600" cy="7315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325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xe ô tô, xe mô tô → phuongtien.loai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743200" cy="73152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Chỉ số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8229600" cy="7315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nồng độ cồn, tốc độ (cần số đo / khung mức)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2743200" cy="73152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Hành vi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971800"/>
            <a:ext cx="8229600" cy="7315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vượt đèn đỏ, không mũ BH, không dây AT, không GPLX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2743200" cy="73152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Tình tiết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886200"/>
            <a:ext cx="8229600" cy="7315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069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gây tai nạn, tái phạm (meta tăng nặng)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00600"/>
            <a:ext cx="2743200" cy="73152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Arial"/>
              </a:rPr>
              <a:t>Hình phạt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800600"/>
            <a:ext cx="8229600" cy="7315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4983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tiền + tước GPLX / trừ điểm (từ ket_luan rule)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200" b="1" dirty="0">
                <a:solidFill>
                  <a:srgbClr val="FFFFFF"/>
                </a:solidFill>
                <a:latin typeface="Calibri"/>
                <a:ea typeface="Arial"/>
              </a:rPr>
              <a:t>RELATION &amp;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KB hiện tại là các ngôi sao concept (không phải đồ thị 1600+ đỉnh). UI nối Legal-Onto → nhóm → concept → keyphrase/fact để trực quan hóa liên thông.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1B6B7A"/>
                </a:solidFill>
                <a:latin typeface="Calibri"/>
                <a:ea typeface="Arial"/>
              </a:rPr>
              <a:t>HAS_KEYPHRASE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860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Concept sở hữu cụm từ — độ tin theo trọng số 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1B6B7A"/>
                </a:solidFill>
                <a:latin typeface="Calibri"/>
                <a:ea typeface="Arial"/>
              </a:rPr>
              <a:t>EXHIBITS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718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Concept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được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câu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hỏi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kích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hoạt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(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sau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khi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phân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tích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1B6B7A"/>
                </a:solidFill>
                <a:latin typeface="Calibri"/>
                <a:ea typeface="Arial"/>
              </a:rPr>
              <a:t>MAPS_TO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Concept → fact trong Working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1B6B7A"/>
                </a:solidFill>
                <a:latin typeface="Calibri"/>
                <a:ea typeface="Arial"/>
              </a:rPr>
              <a:t>HAS_GROUP / HAS_CONCEPT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43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Hub ontology gom nhóm (UI nodes graph)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1">
                <a:solidFill>
                  <a:srgbClr val="1B6B7A"/>
                </a:solidFill>
                <a:latin typeface="Calibri"/>
                <a:ea typeface="Arial"/>
              </a:rPr>
              <a:t>MATCHES → FIRES → CONCLUDES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029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Chuỗi suy diễn theo tình huống trên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400" b="1">
                <a:solidFill>
                  <a:srgbClr val="FFFFFF"/>
                </a:solidFill>
                <a:latin typeface="Calibri"/>
                <a:ea typeface="Arial"/>
              </a:rPr>
              <a:t>RULES YAML — NGHỊ ĐỊNH 168/2024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Mỗi rule: điều kiện (LHS) · kết luận xử phạt (RHS) · căn cứ pháp lý · (tuỳ chọn) giai_thich_mau.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1247120" cy="411480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Ví dụ (ô tô · nồng độ cồn mức 3) — khớp source rules/nong_do_con.yaml: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id: R_CON_OTO_MUC3   ·   nhom: nong_do_con   ·   ap_dung_loai_xe: [o_to]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LHS: chiso.nongDoCon_khiTho &gt; 0.4   OR   chiso.nongDoCon_mau &gt; 80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RHS: tiền 30–40 triệu; tước GPLX 22–24 tháng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can_cu: NĐ 168/2024/NĐ-CP · Điều 6 · Khoản 11 · điểm a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Meta-rule (vd. gây tai nạn): chọn mức max trong khung — không nhân hệ số tuỳ ý.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Phạm vi hiện hỗ trợ: cồn, tốc độ, mũ BH, dây AT, đèn đỏ, GPLX + tình tiết tăng/giảm nặng.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QUY TRÌNH SỐ HÓA TRI THỨC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48840" cy="292608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</a:rPr>
              <a:t>Văn bản NĐ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D0E4EA"/>
                </a:solidFill>
                <a:latin typeface="Calibri"/>
                <a:ea typeface="Arial"/>
              </a:rPr>
              <a:t>Nguồn Nghị định
168/2024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828800"/>
            <a:ext cx="2148840" cy="292608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2057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26517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</a:rPr>
              <a:t>Segment &amp;
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19" y="35661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D0E4EA"/>
                </a:solidFill>
                <a:latin typeface="Calibri"/>
                <a:ea typeface="Arial"/>
              </a:rPr>
              <a:t>scripts /
acquisition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48840" cy="292608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057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517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</a:rPr>
              <a:t>YAML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5661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D0E4EA"/>
                </a:solidFill>
                <a:latin typeface="Calibri"/>
                <a:ea typeface="Arial"/>
              </a:rPr>
              <a:t>rules/*.yaml
+ can_cu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828800"/>
            <a:ext cx="2148840" cy="292608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19" y="2057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6517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</a:rPr>
              <a:t>Legal-Onto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35661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D0E4EA"/>
                </a:solidFill>
                <a:latin typeface="Calibri"/>
                <a:ea typeface="Arial"/>
              </a:rPr>
              <a:t>concepts.yaml
keyphrases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2148840" cy="292608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057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517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</a:rPr>
              <a:t>Load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5661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D0E4EA"/>
                </a:solidFill>
                <a:latin typeface="Calibri"/>
                <a:ea typeface="Arial"/>
              </a:rPr>
              <a:t>Reasoner +
KnowledgeGraph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C45C26"/>
                </a:solidFill>
                <a:latin typeface="Calibri"/>
                <a:ea typeface="Arial"/>
              </a:rPr>
              <a:t>Lưu ý: độ chính xác số hóa luật (~82.6% theo báo cáo) khác với độ chính xác kết luận trên testset (94.7%).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ENGINE SUY DIỄN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Mạng tính toán (M, R): M = biến/thuộc tính bài toán; R = hàm suy (Funcs) + luật điều kiện.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Mô hình bài toán (H, Goal): H = giả thuyết từ facts; Goal = thuộc tính cần suy (vd. mức vượt tốc độ).</a:t>
            </a:r>
          </a:p>
          <a:p>
            <a:pPr algn="l">
              <a:spcAft>
                <a:spcPts val="420"/>
              </a:spcAft>
            </a:pPr>
            <a:endParaRPr sz="15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Trong source (Reasoner.infer):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  1) solve_and_apply — A* trên deduction network (suy thuộc tính trung gian)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  2) deduce_rules — forward chaining kích hoạt Rule khớp WM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  3) apply_meta — meta-rule tình tiết → chọn min / max / trung bình khung</a:t>
            </a: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  4) aggregate — gộp phạt + Trace KL</a:t>
            </a:r>
          </a:p>
          <a:p>
            <a:pPr algn="l">
              <a:spcAft>
                <a:spcPts val="420"/>
              </a:spcAft>
            </a:pPr>
            <a:endParaRPr sz="15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500" b="0">
                <a:solidFill>
                  <a:srgbClr val="1A1A2E"/>
                </a:solidFill>
                <a:latin typeface="Calibri"/>
                <a:ea typeface="Arial"/>
              </a:rPr>
              <a:t>Lời giải tối thiểu: chuỗi suy luận có căn cứ, không dư thừa; mọi kết luận truy xuất được.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CHU TRÌNH SUY DIỄN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103120"/>
            <a:ext cx="1828800" cy="256032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089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Câu NL /
facts sau 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200" b="1">
                <a:solidFill>
                  <a:srgbClr val="C45C26"/>
                </a:solidFill>
                <a:latin typeface="Calibri"/>
                <a:ea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103120"/>
            <a:ext cx="1828800" cy="256032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WM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089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Working
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200" b="1">
                <a:solidFill>
                  <a:srgbClr val="C45C26"/>
                </a:solidFill>
                <a:latin typeface="Calibri"/>
                <a:ea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103120"/>
            <a:ext cx="1828800" cy="256032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A*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31089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Suy thuộc tính
(Funcs)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9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200" b="1">
                <a:solidFill>
                  <a:srgbClr val="C45C26"/>
                </a:solidFill>
                <a:latin typeface="Calibri"/>
                <a:ea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19" y="2103120"/>
            <a:ext cx="1828800" cy="256032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19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1089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Forward
chaining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200" b="1">
                <a:solidFill>
                  <a:srgbClr val="C45C26"/>
                </a:solidFill>
                <a:latin typeface="Calibri"/>
                <a:ea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103120"/>
            <a:ext cx="1828800" cy="2560320"/>
          </a:xfrm>
          <a:prstGeom prst="round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1089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Tăng/giảm
nặng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200" b="1">
                <a:solidFill>
                  <a:srgbClr val="C45C26"/>
                </a:solidFill>
                <a:latin typeface="Calibri"/>
                <a:ea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2103120"/>
            <a:ext cx="1828800" cy="2560320"/>
          </a:xfrm>
          <a:prstGeom prst="round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498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Arial"/>
              </a:rPr>
              <a:t>KL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1089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</a:rPr>
              <a:t>Kết luận +
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Clarify loop: thiếu loại xe / khung cồn–tốc độ → hỏi UI → continue_with(facts) — không chạy lại NLU.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A* VÀ GỘP PHẠT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57200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800" b="1">
                <a:solidFill>
                  <a:srgbClr val="1B6B7A"/>
                </a:solidFill>
                <a:latin typeface="Calibri"/>
                <a:ea typeface="Arial"/>
              </a:rPr>
              <a:t>Thuật toán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f(n) = g(n) + h(n)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g(n): chi phí đường đi thực tế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h(n): heuristic ước lượng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Mục tiêu: chuỗi Func kích hoạt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tối ưu để suy thuộc tính còn thiếu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(vd. mức vượt tốc độ km/h / %).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Ghi TraceStep kind = ASTAR / FUNC.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86400" cy="457200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800" b="1">
                <a:solidFill>
                  <a:srgbClr val="C45C26"/>
                </a:solidFill>
                <a:latin typeface="Calibri"/>
                <a:ea typeface="Arial"/>
              </a:rPr>
              <a:t>Tổng hợp gộp phạt (code)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Cộng dồn tiền các rule đã fire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Hình phạt bổ sung: lấy mức nặng nhất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Meta tăng nặng → chon_muc = max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Meta giảm nhẹ → chon_muc = min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Tăng &amp; giảm cùng lúc → bù trừ (TB khung)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⚠ Không nhân hệ số phạt tùy ý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(khác một số mô tả slide cũ).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• Kết quả: tong_tien + can_cu đầy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400" b="1">
                <a:solidFill>
                  <a:srgbClr val="FFFFFF"/>
                </a:solidFill>
                <a:latin typeface="Calibri"/>
                <a:ea typeface="Arial"/>
              </a:rPr>
              <a:t>TÍCH HỢP LLM &amp; ĐỒ THỊ 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Bài toán 1 — Tình tiết gián tiếp: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LLM / KeywordInferrer chọn trong closed vocabulary + confidence; &lt; 0.6 → cần xác nhận.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Bài toán 2 — Trích facts: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LLMExtractor | HeuristicExtractor → JSON facts → grounding schema.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Legal-Onto question-graph: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subgraph_match (TF-IDF phrase) → map_to_facts bổ sung slot trống (không ghi đè).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Providers (sidebar Streamlit):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• OpenAI (GPT)  ·  Anthropic (Claude)  ·  Local OpenAI-compat (Qwen/Colab/vLLM)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· Heuristic offline  ·  Tự động theo .env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Cloud LLM thường chính xác NLU hơn Local 7B; engine phạt vẫn tất định khi facts đúng.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LUỒNG DỮ LIỆU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Người dùng (Streamlit)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↓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NLUPipeline  →  facts + nlu_meta (matched_concepts, inferred, warnings)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↓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needed_clarifications?  →  hỏi radio UI  →  apply_clarification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↓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Reasoner.infer(facts)  →  KetQua + Trace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↓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render_explanation + Nodes graph (Legal-Onto / reasoning subgraph)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↓</a:t>
            </a:r>
          </a:p>
          <a:p>
            <a:pPr algn="ctr">
              <a:spcAft>
                <a:spcPts val="420"/>
              </a:spcAft>
            </a:pPr>
            <a:r>
              <a:rPr sz="1600" b="0">
                <a:solidFill>
                  <a:srgbClr val="1A1A2E"/>
                </a:solidFill>
                <a:latin typeface="Calibri"/>
                <a:ea typeface="Arial"/>
              </a:rPr>
              <a:t>Hiển thị: mức phạt · căn cứ · facts · trace · đồ thị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ea typeface="Arial"/>
              </a:rPr>
              <a:t>GIAO DIỆN 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1031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Tab Tư vấn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Nhập tình huống · Phân tích · Clarify · Giải thích mức phạt · Facts · Trace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486400" cy="21031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Tab Nodes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Legal-Onto tương tác (pyvis): EXHIBITS / HAS_KEYPHRASE / MAPS_TO + độ 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486400" cy="21031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Chuỗi suy diễn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INPUT → concept → fact → WM → RULE → META → Kết luận (hover cạnh)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66160"/>
            <a:ext cx="5486400" cy="2103120"/>
          </a:xfrm>
          <a:prstGeom prst="round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600" b="1">
                <a:solidFill>
                  <a:srgbClr val="1B6B7A"/>
                </a:solidFill>
                <a:latin typeface="Calibri"/>
                <a:ea typeface="Arial"/>
              </a:rPr>
              <a:t>Cấu hình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Sidebar: provider · API key/.env · model (gpt-4o-mini, Claude, 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ĐÁNH GIÁ HIỆU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19 ca · HeuristicExtractor (offline) · NĐ 168/2024  —  nguồn: eval/report.py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Kết luận đúng tập HV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600" b="1">
                <a:solidFill>
                  <a:srgbClr val="1B6B7A"/>
                </a:solidFill>
                <a:latin typeface="Calibri"/>
                <a:ea typeface="Arial"/>
              </a:rPr>
              <a:t>94.7%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Đúng tổng tiền phạt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600" b="1">
                <a:solidFill>
                  <a:srgbClr val="1B6B7A"/>
                </a:solidFill>
                <a:latin typeface="Calibri"/>
                <a:ea typeface="Arial"/>
              </a:rPr>
              <a:t>94.7%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F1 trích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600" b="1">
                <a:solidFill>
                  <a:srgbClr val="1B6B7A"/>
                </a:solidFill>
                <a:latin typeface="Calibri"/>
                <a:ea typeface="Arial"/>
              </a:rPr>
              <a:t>99.2%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Precision /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600" b="1">
                <a:solidFill>
                  <a:srgbClr val="1B6B7A"/>
                </a:solidFill>
                <a:latin typeface="Calibri"/>
                <a:ea typeface="Arial"/>
              </a:rPr>
              <a:t>100% / 98.7%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566160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NLU trung bình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43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600" b="1">
                <a:solidFill>
                  <a:srgbClr val="1B6B7A"/>
                </a:solidFill>
                <a:latin typeface="Calibri"/>
                <a:ea typeface="Arial"/>
              </a:rPr>
              <a:t>0.24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566160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300" b="0">
                <a:solidFill>
                  <a:srgbClr val="4A5568"/>
                </a:solidFill>
                <a:latin typeface="Calibri"/>
                <a:ea typeface="Arial"/>
              </a:rPr>
              <a:t>Engine trung bình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2600" b="1">
                <a:solidFill>
                  <a:srgbClr val="1B6B7A"/>
                </a:solidFill>
                <a:latin typeface="Calibri"/>
                <a:ea typeface="Arial"/>
              </a:rPr>
              <a:t>0.17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KẾT LUẬN &amp; HẠN CHẾ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✔ Engine ký hiệu tất định: Facts đúng → kết luận &amp; căn cứ luôn đúng. Sai số đến từ NLU.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✘ Ca c19: “chạy 75 km/h trong khu dân cư” — chưa suy giới hạn 50 km/h từ loại khu vực.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 → bổ sung luật suy giới hạn khu vực hoặc dùng LLMExtractor.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⚡ Thời gian suy diễn ~ms — phù hợp chatbot thời gian thực.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🔁 Heuristic tái lập 100%; LLM nâng recall câu khẩu ngữ nhưng phụ thuộc API/model.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⚠ Rủi ro: phủ sóng luật chưa toàn NĐ 168; chi phí token LLM; tiếng Việt đa phương ngữ.</a:t>
            </a:r>
          </a:p>
          <a:p>
            <a:pPr algn="l">
              <a:spcAft>
                <a:spcPts val="420"/>
              </a:spcAft>
            </a:pPr>
            <a:endParaRPr sz="1400" b="0">
              <a:solidFill>
                <a:srgbClr val="1A1A2E"/>
              </a:solidFill>
              <a:latin typeface="Calibri"/>
              <a:ea typeface="Arial"/>
            </a:endParaRP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✅ Hướng phát triển: mở rộng KH + rules; đánh giá head-to-head OpenAI vs Local;</a:t>
            </a:r>
          </a:p>
          <a:p>
            <a:pPr algn="l">
              <a:spcAft>
                <a:spcPts val="420"/>
              </a:spcAft>
            </a:pPr>
            <a:r>
              <a:rPr sz="1400" b="0">
                <a:solidFill>
                  <a:srgbClr val="1A1A2E"/>
                </a:solidFill>
                <a:latin typeface="Calibri"/>
                <a:ea typeface="Arial"/>
              </a:rPr>
              <a:t>   tối ưu chi phí; làm giàu quan hệ ontology (R_hier / R_con) nếu cần.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Arial"/>
              </a:rP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1. Phạm, V. T., &amp;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cộng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sự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. Legal-Onto: Ontology-based KR for Vietnamese Traffic Law.</a:t>
            </a:r>
          </a:p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2. Phạm, V. T. Neuro-symbolic Reasoning for Legal Expert Systems in Vietnamese Context.</a:t>
            </a:r>
          </a:p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3. Phạm, V. T., &amp; Nguyễn, H. M. Combining LLM and Symbolic Engine for Legal QA. KSE.</a:t>
            </a:r>
          </a:p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4.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Nghị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định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168/2024/NĐ-CP —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xử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phạt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VPHC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lĩnh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vực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giao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thông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đường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bộ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(KB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chính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).</a:t>
            </a:r>
          </a:p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5.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Nghị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định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100/2019/NĐ-CP &amp; 123/2021/NĐ-CP —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văn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bản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tiền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thân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/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tham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chiếu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lịch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sử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.</a:t>
            </a:r>
          </a:p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6. Nguyen, D. Q., et al.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PhoBERT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. Findings of EMNLP 2020.</a:t>
            </a:r>
          </a:p>
          <a:p>
            <a:pPr algn="l">
              <a:spcAft>
                <a:spcPts val="42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7.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underthesea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·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VnCoreNLP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—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công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cụ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NLP </a:t>
            </a:r>
            <a:r>
              <a:rPr sz="1400" b="0" dirty="0" err="1">
                <a:solidFill>
                  <a:srgbClr val="1A1A2E"/>
                </a:solidFill>
                <a:latin typeface="Calibri"/>
                <a:ea typeface="Arial"/>
              </a:rPr>
              <a:t>tiếng</a:t>
            </a:r>
            <a:r>
              <a:rPr sz="1400" b="0" dirty="0">
                <a:solidFill>
                  <a:srgbClr val="1A1A2E"/>
                </a:solidFill>
                <a:latin typeface="Calibri"/>
                <a:ea typeface="Arial"/>
              </a:rPr>
              <a:t> Việt.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CS2307.CH201 · Nhóm 4 · Traffic Expert System · NĐ 168/2024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0"/>
              </a:spcAft>
            </a:pPr>
            <a:r>
              <a:rPr sz="1000" b="0">
                <a:solidFill>
                  <a:srgbClr val="4A5568"/>
                </a:solidFill>
                <a:latin typeface="Calibri"/>
                <a:ea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91440"/>
          </a:xfrm>
          <a:prstGeom prst="rect">
            <a:avLst/>
          </a:prstGeom>
          <a:solidFill>
            <a:srgbClr val="1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Arial"/>
              </a:rPr>
              <a:t>CẢM ƠN THẦY CÔ VÀ CÁC BẠN!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</a:pPr>
            <a:r>
              <a:rPr sz="1400" b="0">
                <a:solidFill>
                  <a:srgbClr val="A8C5D4"/>
                </a:solidFill>
                <a:latin typeface="Calibri"/>
                <a:ea typeface="Arial"/>
              </a:rPr>
              <a:t>CS2307.CH201 · Nhóm 4 · Hệ chuyên gia tư vấn VPHC giao thông dựa trên Reasoning</a:t>
            </a:r>
          </a:p>
          <a:p>
            <a:pPr algn="ctr">
              <a:spcAft>
                <a:spcPts val="420"/>
              </a:spcAft>
            </a:pPr>
            <a:r>
              <a:rPr sz="1400" b="0">
                <a:solidFill>
                  <a:srgbClr val="A8C5D4"/>
                </a:solidFill>
                <a:latin typeface="Calibri"/>
                <a:ea typeface="Arial"/>
              </a:rPr>
              <a:t>Demo: streamlit run app/streamlit_app.py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2595</Words>
  <Application>Microsoft Macintosh PowerPoint</Application>
  <PresentationFormat>Widescreen</PresentationFormat>
  <Paragraphs>316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2026-08-05T02:24:31Z</dcterms:modified>
  <cp:category/>
</cp:coreProperties>
</file>